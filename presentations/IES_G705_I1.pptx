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5" r:id="rId4"/>
    <p:sldId id="257" r:id="rId5"/>
    <p:sldId id="259" r:id="rId6"/>
    <p:sldId id="262" r:id="rId7"/>
    <p:sldId id="263" r:id="rId8"/>
    <p:sldId id="264" r:id="rId9"/>
    <p:sldId id="258" r:id="rId10"/>
    <p:sldId id="26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9EFF29"/>
    <a:srgbClr val="C80064"/>
    <a:srgbClr val="C33A1F"/>
    <a:srgbClr val="0000CC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41" autoAdjust="0"/>
  </p:normalViewPr>
  <p:slideViewPr>
    <p:cSldViewPr snapToGrid="0">
      <p:cViewPr varScale="1">
        <p:scale>
          <a:sx n="109" d="100"/>
          <a:sy n="109" d="100"/>
        </p:scale>
        <p:origin x="70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7703" y="1784556"/>
            <a:ext cx="8229600" cy="1688688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328" y="3694468"/>
            <a:ext cx="82296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744AF-450D-4078-A5DD-A4C334E57F35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433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246070" cy="346587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082E-3E78-455B-8C4D-5809F9CAAEA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106" y="406537"/>
            <a:ext cx="6283782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20136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ED84E-21CE-43FB-A163-E4E12796699B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A02C-0A16-4A80-B973-80FBA2CD677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8E896-ED78-474C-B6B5-0A3DACBB6011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92" y="271648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5551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12791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5551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12791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8793E-F915-4E0B-892D-EDD9914A35D4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E3DE8-1040-49D8-AC25-5EC54EB518EA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C990-BB18-4D68-827A-F3E72C4926F4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9495-02D4-47BE-9A80-E1FFF7FF4D70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BE76-B694-4729-AA55-EC8EF91A2AD5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D032-059C-4B49-8FB0-ED8FE0026676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8AD08-633A-432D-AF57-258D5ED20E9C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13FB3-5008-48DA-88CA-27154F42C5BB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949" y="1895168"/>
            <a:ext cx="8192728" cy="1445337"/>
          </a:xfrm>
        </p:spPr>
        <p:txBody>
          <a:bodyPr>
            <a:normAutofit/>
          </a:bodyPr>
          <a:lstStyle/>
          <a:p>
            <a:r>
              <a:rPr lang="en-US" dirty="0"/>
              <a:t>(Nome)</a:t>
            </a:r>
            <a:br>
              <a:rPr lang="en-US" dirty="0"/>
            </a:br>
            <a:r>
              <a:rPr lang="en-US" dirty="0" err="1"/>
              <a:t>Iteração</a:t>
            </a:r>
            <a:r>
              <a:rPr lang="en-US" dirty="0"/>
              <a:t>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5405" y="3753458"/>
            <a:ext cx="2211898" cy="730043"/>
          </a:xfrm>
        </p:spPr>
        <p:txBody>
          <a:bodyPr>
            <a:normAutofit fontScale="92500"/>
          </a:bodyPr>
          <a:lstStyle/>
          <a:p>
            <a:pPr algn="l"/>
            <a:r>
              <a:rPr lang="pt-PT" sz="900" b="1" i="0" dirty="0">
                <a:solidFill>
                  <a:schemeClr val="tx1"/>
                </a:solidFill>
                <a:effectLst/>
              </a:rPr>
              <a:t>Margarida Cardoso - 125799 - Team Manager</a:t>
            </a:r>
            <a:endParaRPr lang="pt-PT" sz="900" b="0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pt-PT" sz="900" b="1" i="0" dirty="0">
                <a:solidFill>
                  <a:schemeClr val="tx1"/>
                </a:solidFill>
                <a:effectLst/>
              </a:rPr>
              <a:t>Tiago Costa - 125943 - </a:t>
            </a:r>
            <a:r>
              <a:rPr lang="pt-PT" sz="900" b="1" i="0" dirty="0" err="1">
                <a:solidFill>
                  <a:schemeClr val="tx1"/>
                </a:solidFill>
                <a:effectLst/>
              </a:rPr>
              <a:t>Product</a:t>
            </a:r>
            <a:r>
              <a:rPr lang="pt-PT" sz="900" b="1" i="0" dirty="0">
                <a:solidFill>
                  <a:schemeClr val="tx1"/>
                </a:solidFill>
                <a:effectLst/>
              </a:rPr>
              <a:t> </a:t>
            </a:r>
            <a:r>
              <a:rPr lang="pt-PT" sz="900" b="1" i="0" dirty="0" err="1">
                <a:solidFill>
                  <a:schemeClr val="tx1"/>
                </a:solidFill>
                <a:effectLst/>
              </a:rPr>
              <a:t>Owner</a:t>
            </a:r>
            <a:endParaRPr lang="pt-PT" sz="900" b="0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pt-PT" sz="900" b="1" i="0" dirty="0">
                <a:solidFill>
                  <a:schemeClr val="tx1"/>
                </a:solidFill>
                <a:effectLst/>
              </a:rPr>
              <a:t>Pedro Rocha - 125296 - </a:t>
            </a:r>
            <a:r>
              <a:rPr lang="pt-PT" sz="900" b="1" i="0" dirty="0" err="1">
                <a:solidFill>
                  <a:schemeClr val="tx1"/>
                </a:solidFill>
                <a:effectLst/>
              </a:rPr>
              <a:t>Architect</a:t>
            </a:r>
            <a:endParaRPr lang="pt-PT" sz="900" b="0" i="0" dirty="0">
              <a:solidFill>
                <a:schemeClr val="tx1"/>
              </a:solidFill>
              <a:effectLst/>
            </a:endParaRPr>
          </a:p>
          <a:p>
            <a:pPr algn="l"/>
            <a:r>
              <a:rPr lang="pt-PT" sz="900" b="1" i="0" dirty="0">
                <a:solidFill>
                  <a:schemeClr val="tx1"/>
                </a:solidFill>
                <a:effectLst/>
              </a:rPr>
              <a:t>Daniel Martins - 115868 - </a:t>
            </a:r>
            <a:r>
              <a:rPr lang="pt-PT" sz="900" b="1" i="0" dirty="0" err="1">
                <a:solidFill>
                  <a:schemeClr val="tx1"/>
                </a:solidFill>
                <a:effectLst/>
              </a:rPr>
              <a:t>DevOps</a:t>
            </a:r>
            <a:r>
              <a:rPr lang="pt-PT" sz="900" b="1" i="0" dirty="0">
                <a:solidFill>
                  <a:schemeClr val="tx1"/>
                </a:solidFill>
                <a:effectLst/>
              </a:rPr>
              <a:t> Master</a:t>
            </a:r>
          </a:p>
          <a:p>
            <a:pPr algn="l"/>
            <a:endParaRPr lang="pt-PT" sz="900" b="1" dirty="0">
              <a:solidFill>
                <a:schemeClr val="tx1"/>
              </a:solidFill>
            </a:endParaRPr>
          </a:p>
          <a:p>
            <a:pPr algn="l"/>
            <a:endParaRPr lang="pt-PT" sz="900" b="1" i="0" dirty="0">
              <a:solidFill>
                <a:schemeClr val="tx1"/>
              </a:solidFill>
              <a:effectLst/>
            </a:endParaRPr>
          </a:p>
          <a:p>
            <a:pPr algn="l"/>
            <a:endParaRPr lang="pt-PT" sz="9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2332626-D16A-22E4-0ED6-862FBF26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200" b="1" smtClean="0">
                <a:solidFill>
                  <a:schemeClr val="tx1"/>
                </a:solidFill>
              </a:rPr>
              <a:pPr/>
              <a:t>1</a:t>
            </a:fld>
            <a:endParaRPr lang="en-US" dirty="0"/>
          </a:p>
        </p:txBody>
      </p:sp>
      <p:sp>
        <p:nvSpPr>
          <p:cNvPr id="10" name="Marcador de Posição do Número do Diapositivo 6">
            <a:extLst>
              <a:ext uri="{FF2B5EF4-FFF2-40B4-BE49-F238E27FC236}">
                <a16:creationId xmlns:a16="http://schemas.microsoft.com/office/drawing/2014/main" id="{5C1CEF3C-6CAB-4B94-6997-0E4808C3AD78}"/>
              </a:ext>
            </a:extLst>
          </p:cNvPr>
          <p:cNvSpPr txBox="1">
            <a:spLocks/>
          </p:cNvSpPr>
          <p:nvPr/>
        </p:nvSpPr>
        <p:spPr>
          <a:xfrm>
            <a:off x="5226204" y="3176744"/>
            <a:ext cx="37951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err="1">
                <a:solidFill>
                  <a:schemeClr val="tx1"/>
                </a:solidFill>
              </a:rPr>
              <a:t>Introdução</a:t>
            </a:r>
            <a:r>
              <a:rPr lang="en-US" sz="1400" b="1" dirty="0">
                <a:solidFill>
                  <a:schemeClr val="tx1"/>
                </a:solidFill>
              </a:rPr>
              <a:t> a </a:t>
            </a:r>
            <a:r>
              <a:rPr lang="en-US" sz="1400" b="1" dirty="0" err="1">
                <a:solidFill>
                  <a:schemeClr val="tx1"/>
                </a:solidFill>
              </a:rPr>
              <a:t>Engenharia</a:t>
            </a:r>
            <a:r>
              <a:rPr lang="en-US" sz="1400" b="1" dirty="0">
                <a:solidFill>
                  <a:schemeClr val="tx1"/>
                </a:solidFill>
              </a:rPr>
              <a:t> de Software	2025/2026</a:t>
            </a:r>
            <a:endParaRPr lang="en-US" sz="1400" dirty="0"/>
          </a:p>
        </p:txBody>
      </p:sp>
      <p:pic>
        <p:nvPicPr>
          <p:cNvPr id="12" name="Imagem 11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00B3BD10-4A9D-98F1-28AC-21DDF8ECD9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926" y="316896"/>
            <a:ext cx="3717073" cy="67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Índice</a:t>
            </a:r>
            <a:r>
              <a:rPr lang="en-US" dirty="0"/>
              <a:t>		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12606"/>
            <a:ext cx="8680286" cy="3683140"/>
          </a:xfrm>
        </p:spPr>
        <p:txBody>
          <a:bodyPr>
            <a:normAutofit fontScale="85000" lnSpcReduction="20000"/>
          </a:bodyPr>
          <a:lstStyle/>
          <a:p>
            <a:r>
              <a:rPr lang="en-US" sz="3000" dirty="0" err="1"/>
              <a:t>Índice</a:t>
            </a:r>
            <a:r>
              <a:rPr lang="en-US" sz="3000" dirty="0"/>
              <a:t>………………………………………………………………….....	2</a:t>
            </a:r>
          </a:p>
          <a:p>
            <a:r>
              <a:rPr lang="en-US" sz="3000" dirty="0" err="1"/>
              <a:t>Introdução</a:t>
            </a:r>
            <a:r>
              <a:rPr lang="en-US" sz="3000" dirty="0"/>
              <a:t>………………………………………………….............	3</a:t>
            </a:r>
          </a:p>
          <a:p>
            <a:r>
              <a:rPr lang="en-US" sz="3000" dirty="0"/>
              <a:t>Personas…………………………………………………………………	4 - 8</a:t>
            </a:r>
          </a:p>
          <a:p>
            <a:pPr lvl="1"/>
            <a:r>
              <a:rPr lang="pt-PT" sz="3000" b="0" i="0" u="none" strike="noStrike" dirty="0" err="1">
                <a:effectLst/>
              </a:rPr>
              <a:t>Maintenance</a:t>
            </a:r>
            <a:r>
              <a:rPr lang="pt-PT" sz="3000" b="0" i="0" u="none" strike="noStrike" dirty="0">
                <a:effectLst/>
              </a:rPr>
              <a:t> </a:t>
            </a:r>
            <a:r>
              <a:rPr lang="pt-PT" sz="3000" b="0" i="0" u="none" strike="noStrike" dirty="0" err="1">
                <a:effectLst/>
              </a:rPr>
              <a:t>Technician</a:t>
            </a:r>
            <a:r>
              <a:rPr lang="pt-PT" sz="3000" b="0" i="0" u="none" strike="noStrike" dirty="0">
                <a:effectLst/>
              </a:rPr>
              <a:t>…………………………………….	5</a:t>
            </a:r>
            <a:endParaRPr lang="en-US" sz="3000" dirty="0"/>
          </a:p>
          <a:p>
            <a:pPr lvl="1"/>
            <a:r>
              <a:rPr lang="pt-PT" sz="3000" b="0" i="0" u="none" strike="noStrike" dirty="0" err="1">
                <a:effectLst/>
              </a:rPr>
              <a:t>Maintenance</a:t>
            </a:r>
            <a:r>
              <a:rPr lang="pt-PT" sz="3000" b="0" i="0" u="none" strike="noStrike" dirty="0">
                <a:effectLst/>
              </a:rPr>
              <a:t> </a:t>
            </a:r>
            <a:r>
              <a:rPr lang="pt-PT" sz="3000" b="0" i="0" u="none" strike="noStrike" dirty="0" err="1">
                <a:effectLst/>
              </a:rPr>
              <a:t>Director</a:t>
            </a:r>
            <a:r>
              <a:rPr lang="pt-PT" sz="3000" b="0" i="0" u="none" strike="noStrike" dirty="0">
                <a:effectLst/>
              </a:rPr>
              <a:t>………………………………………..	6</a:t>
            </a:r>
          </a:p>
          <a:p>
            <a:pPr lvl="1"/>
            <a:r>
              <a:rPr lang="pt-PT" sz="3000" b="0" i="0" u="none" strike="noStrike" dirty="0">
                <a:effectLst/>
              </a:rPr>
              <a:t>Manager…………………………………………………………….	7</a:t>
            </a:r>
          </a:p>
          <a:p>
            <a:pPr lvl="1"/>
            <a:r>
              <a:rPr lang="pt-PT" sz="3000" b="0" i="0" u="none" strike="noStrike" dirty="0" err="1">
                <a:effectLst/>
              </a:rPr>
              <a:t>Administrator</a:t>
            </a:r>
            <a:r>
              <a:rPr lang="pt-PT" sz="3000" b="0" i="0" u="none" strike="noStrike" dirty="0">
                <a:effectLst/>
              </a:rPr>
              <a:t>…………………………………………………….	8</a:t>
            </a:r>
            <a:endParaRPr lang="en-US" sz="3000" dirty="0"/>
          </a:p>
          <a:p>
            <a:r>
              <a:rPr lang="pt-PT" sz="3000" dirty="0"/>
              <a:t>Repositório……………………………………………………………. 	9</a:t>
            </a:r>
          </a:p>
          <a:p>
            <a:r>
              <a:rPr lang="pt-PT" sz="3000" dirty="0"/>
              <a:t>Fim………………………………………………………………………... 10</a:t>
            </a:r>
          </a:p>
          <a:p>
            <a:endParaRPr lang="en-US" sz="3000" dirty="0"/>
          </a:p>
          <a:p>
            <a:endParaRPr lang="pt-PT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8D877CF-D7DB-DE1C-2D27-D1BC3E03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85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 dirty="0">
                <a:effectLst/>
              </a:rPr>
              <a:t>Introdução: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6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(Nome)</a:t>
            </a:r>
            <a:br>
              <a:rPr lang="pt-PT" dirty="0"/>
            </a:br>
            <a:br>
              <a:rPr lang="pt-PT" dirty="0"/>
            </a:br>
            <a:r>
              <a:rPr lang="pt-PT" dirty="0"/>
              <a:t>Um sistema de monitorização industrial que analisa dados de sensores de vibração, pressão e temperatura para possibilitar a manutenção preditiva de máquinas</a:t>
            </a:r>
            <a:endParaRPr lang="en-US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5402FEA-D32E-D794-CE26-5EB983800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600" b="1" smtClean="0">
                <a:solidFill>
                  <a:schemeClr val="tx1"/>
                </a:solidFill>
              </a:rPr>
              <a:pPr/>
              <a:t>3</a:t>
            </a:fld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3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>
                <a:effectLst/>
              </a:rPr>
              <a:t>Entidades</a:t>
            </a:r>
            <a:endParaRPr lang="pt-PT" sz="3600" b="0" i="0" u="none" strike="noStrike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</a:rPr>
              <a:t>Foi criado as seguintes personas para o sistema:</a:t>
            </a:r>
            <a:endParaRPr lang="pt-PT" sz="2400" b="0" i="0" u="none" strike="noStrike" dirty="0">
              <a:effectLst/>
              <a:latin typeface="Arial" panose="020B0604020202020204" pitchFamily="34" charset="0"/>
            </a:endParaRPr>
          </a:p>
          <a:p>
            <a:pPr lvl="1"/>
            <a:r>
              <a:rPr lang="pt-PT" sz="2400" b="0" i="0" u="none" strike="noStrike" dirty="0" err="1">
                <a:effectLst/>
                <a:latin typeface="Arial" panose="020B0604020202020204" pitchFamily="34" charset="0"/>
              </a:rPr>
              <a:t>Maintenance</a:t>
            </a:r>
            <a:r>
              <a:rPr lang="pt-PT" sz="24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pt-PT" sz="2400" b="0" i="0" u="none" strike="noStrike" dirty="0" err="1">
                <a:effectLst/>
                <a:latin typeface="Arial" panose="020B0604020202020204" pitchFamily="34" charset="0"/>
              </a:rPr>
              <a:t>Technician</a:t>
            </a:r>
            <a:endParaRPr lang="pt-PT" sz="2400" b="0" i="0" u="none" strike="noStrike" dirty="0">
              <a:effectLst/>
              <a:latin typeface="Arial" panose="020B0604020202020204" pitchFamily="34" charset="0"/>
            </a:endParaRPr>
          </a:p>
          <a:p>
            <a:pPr lvl="1"/>
            <a:r>
              <a:rPr lang="pt-PT" sz="2400" b="0" i="0" u="none" strike="noStrike" dirty="0" err="1">
                <a:effectLst/>
                <a:latin typeface="Arial" panose="020B0604020202020204" pitchFamily="34" charset="0"/>
              </a:rPr>
              <a:t>Maintenance</a:t>
            </a:r>
            <a:r>
              <a:rPr lang="pt-PT" sz="24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pt-PT" sz="2400" b="0" i="0" u="none" strike="noStrike" dirty="0" err="1">
                <a:effectLst/>
                <a:latin typeface="Arial" panose="020B0604020202020204" pitchFamily="34" charset="0"/>
              </a:rPr>
              <a:t>Director</a:t>
            </a:r>
            <a:endParaRPr lang="pt-PT" sz="2400" dirty="0">
              <a:latin typeface="Arial" panose="020B0604020202020204" pitchFamily="34" charset="0"/>
            </a:endParaRPr>
          </a:p>
          <a:p>
            <a:pPr lvl="1"/>
            <a:r>
              <a:rPr lang="pt-PT" sz="2400" b="0" i="0" u="none" strike="noStrike" dirty="0">
                <a:effectLst/>
                <a:latin typeface="Arial" panose="020B0604020202020204" pitchFamily="34" charset="0"/>
              </a:rPr>
              <a:t>Manager</a:t>
            </a:r>
          </a:p>
          <a:p>
            <a:pPr lvl="1"/>
            <a:r>
              <a:rPr lang="pt-PT" sz="2400" b="0" i="0" u="none" strike="noStrike" dirty="0" err="1">
                <a:effectLst/>
                <a:latin typeface="Arial" panose="020B0604020202020204" pitchFamily="34" charset="0"/>
              </a:rPr>
              <a:t>Administrator</a:t>
            </a:r>
            <a:endParaRPr lang="pt-PT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AAEDA57-01BF-1C28-E7BE-1556B8B8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 dirty="0" err="1">
                <a:effectLst/>
              </a:rPr>
              <a:t>Maintenance</a:t>
            </a:r>
            <a:r>
              <a:rPr lang="pt-PT" sz="3600" b="0" i="0" u="none" strike="noStrike" dirty="0">
                <a:effectLst/>
              </a:rPr>
              <a:t> </a:t>
            </a:r>
            <a:r>
              <a:rPr lang="pt-PT" sz="3600" b="0" i="0" u="none" strike="noStrike" dirty="0" err="1">
                <a:effectLst/>
              </a:rPr>
              <a:t>Technician</a:t>
            </a:r>
            <a:endParaRPr lang="pt-PT" sz="3600" b="0" i="0" u="none" strike="noStrike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268361"/>
            <a:ext cx="6304935" cy="3468602"/>
          </a:xfrm>
        </p:spPr>
        <p:txBody>
          <a:bodyPr>
            <a:normAutofit fontScale="77500" lnSpcReduction="20000"/>
          </a:bodyPr>
          <a:lstStyle/>
          <a:p>
            <a:r>
              <a:rPr lang="pt-PT" dirty="0"/>
              <a:t>Objetivo:</a:t>
            </a:r>
          </a:p>
          <a:p>
            <a:pPr lvl="1"/>
            <a:r>
              <a:rPr lang="pt-PT" dirty="0"/>
              <a:t>Quer saber rapidamente quais sensores têm problemas, e agir antes de falhas graves acontecerem.</a:t>
            </a:r>
          </a:p>
          <a:p>
            <a:r>
              <a:rPr lang="pt-PT" dirty="0"/>
              <a:t>Responsabilidades:</a:t>
            </a:r>
          </a:p>
          <a:p>
            <a:pPr lvl="1"/>
            <a:r>
              <a:rPr lang="pt-PT" dirty="0"/>
              <a:t>Verificar o estado do sistema e dos sensores</a:t>
            </a:r>
          </a:p>
          <a:p>
            <a:pPr lvl="1"/>
            <a:r>
              <a:rPr lang="pt-PT" dirty="0"/>
              <a:t>Analisar os sensores e possíveis alertas</a:t>
            </a:r>
          </a:p>
          <a:p>
            <a:pPr lvl="1"/>
            <a:r>
              <a:rPr lang="pt-PT" dirty="0"/>
              <a:t>Resolver avarias</a:t>
            </a:r>
          </a:p>
          <a:p>
            <a:pPr lvl="1"/>
            <a:r>
              <a:rPr lang="pt-PT" dirty="0"/>
              <a:t>Realizar as intervenções</a:t>
            </a:r>
          </a:p>
          <a:p>
            <a:pPr lvl="1"/>
            <a:r>
              <a:rPr lang="pt-PT" dirty="0"/>
              <a:t>Pedir assistência se for necessário</a:t>
            </a:r>
            <a:endParaRPr lang="en-US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72D9579-B349-0BF5-3BB1-EBC69F47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200" b="1" smtClean="0">
                <a:solidFill>
                  <a:schemeClr val="tx1"/>
                </a:solidFill>
              </a:rPr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 dirty="0" err="1">
                <a:effectLst/>
              </a:rPr>
              <a:t>Maintenance</a:t>
            </a:r>
            <a:r>
              <a:rPr lang="pt-PT" sz="3600" b="0" i="0" u="none" strike="noStrike" dirty="0">
                <a:effectLst/>
              </a:rPr>
              <a:t> </a:t>
            </a:r>
            <a:r>
              <a:rPr lang="pt-PT" sz="3600" b="0" i="0" u="none" strike="noStrike" dirty="0" err="1">
                <a:effectLst/>
              </a:rPr>
              <a:t>Director</a:t>
            </a:r>
            <a:endParaRPr lang="pt-P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8" y="1268361"/>
            <a:ext cx="6568908" cy="3468602"/>
          </a:xfrm>
        </p:spPr>
        <p:txBody>
          <a:bodyPr>
            <a:normAutofit/>
          </a:bodyPr>
          <a:lstStyle/>
          <a:p>
            <a:r>
              <a:rPr lang="pt-PT" sz="2200" dirty="0"/>
              <a:t>Objetivo:</a:t>
            </a:r>
          </a:p>
          <a:p>
            <a:pPr lvl="1"/>
            <a:r>
              <a:rPr lang="pt-PT" sz="2200" dirty="0"/>
              <a:t>Quer identificar os sensores com falhas recorrentes e investigar problemas mais sérios.</a:t>
            </a:r>
          </a:p>
          <a:p>
            <a:r>
              <a:rPr lang="pt-PT" sz="2200" dirty="0"/>
              <a:t>Responsabilidades:</a:t>
            </a:r>
          </a:p>
          <a:p>
            <a:pPr lvl="1"/>
            <a:r>
              <a:rPr lang="pt-PT" sz="2200" dirty="0"/>
              <a:t>Analisar o histórico completo de avarias</a:t>
            </a:r>
          </a:p>
          <a:p>
            <a:pPr lvl="1"/>
            <a:r>
              <a:rPr lang="pt-PT" sz="2200" dirty="0"/>
              <a:t>Identificar padrões de falhas</a:t>
            </a:r>
          </a:p>
          <a:p>
            <a:pPr lvl="1"/>
            <a:r>
              <a:rPr lang="pt-PT" sz="2200" dirty="0"/>
              <a:t>Avalia a necessidade de ações mais críticas</a:t>
            </a:r>
            <a:endParaRPr lang="en-US" sz="22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B26C4CCF-C3A3-9C81-E99C-B788E620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200" b="1" smtClean="0">
                <a:solidFill>
                  <a:schemeClr val="tx1"/>
                </a:solidFill>
              </a:rPr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69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 dirty="0">
                <a:effectLst/>
                <a:latin typeface="Arial" panose="020B0604020202020204" pitchFamily="34" charset="0"/>
              </a:rPr>
              <a:t>Manager</a:t>
            </a:r>
            <a:endParaRPr lang="pt-PT" sz="3600" dirty="0">
              <a:latin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9" y="1268361"/>
            <a:ext cx="6524302" cy="3420136"/>
          </a:xfrm>
        </p:spPr>
        <p:txBody>
          <a:bodyPr>
            <a:normAutofit/>
          </a:bodyPr>
          <a:lstStyle/>
          <a:p>
            <a:r>
              <a:rPr lang="pt-PT" sz="2200" dirty="0"/>
              <a:t>Objetivos:</a:t>
            </a:r>
          </a:p>
          <a:p>
            <a:pPr lvl="1"/>
            <a:r>
              <a:rPr lang="pt-PT" sz="2200" dirty="0"/>
              <a:t>Quer perceber se uma máquina continua a ser viável ou se deve ser substituída.</a:t>
            </a:r>
          </a:p>
          <a:p>
            <a:r>
              <a:rPr lang="pt-PT" sz="2200" dirty="0"/>
              <a:t>Responsabilidades:</a:t>
            </a:r>
          </a:p>
          <a:p>
            <a:pPr lvl="1"/>
            <a:r>
              <a:rPr lang="pt-PT" sz="2200" dirty="0"/>
              <a:t>Analisar custos de reparação</a:t>
            </a:r>
          </a:p>
          <a:p>
            <a:pPr lvl="1"/>
            <a:r>
              <a:rPr lang="pt-PT" sz="2200" dirty="0"/>
              <a:t>Avaliar tempo de paragem e de operação</a:t>
            </a:r>
          </a:p>
          <a:p>
            <a:pPr lvl="1"/>
            <a:r>
              <a:rPr lang="pt-PT" sz="2200" dirty="0"/>
              <a:t>Comparar o custo de uso </a:t>
            </a:r>
            <a:r>
              <a:rPr lang="pt-PT" sz="2200" dirty="0" err="1"/>
              <a:t>vs</a:t>
            </a:r>
            <a:r>
              <a:rPr lang="pt-PT" sz="2200" dirty="0"/>
              <a:t> produtividade</a:t>
            </a:r>
          </a:p>
          <a:p>
            <a:pPr lvl="1"/>
            <a:r>
              <a:rPr lang="pt-PT" sz="2200" dirty="0"/>
              <a:t>Tomar decisões de investimento ou substituição</a:t>
            </a:r>
            <a:endParaRPr lang="en-US" sz="2200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B3EFF9D8-7943-C6C5-0911-E78C80AA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200" b="1" smtClean="0">
                <a:solidFill>
                  <a:schemeClr val="tx1"/>
                </a:solidFill>
              </a:rPr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89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PT" sz="3600" b="0" i="0" u="none" strike="noStrike" dirty="0" err="1">
                <a:effectLst/>
              </a:rPr>
              <a:t>Administrator</a:t>
            </a:r>
            <a:endParaRPr lang="pt-PT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9239" y="1268361"/>
            <a:ext cx="6033650" cy="3420136"/>
          </a:xfrm>
        </p:spPr>
        <p:txBody>
          <a:bodyPr>
            <a:normAutofit/>
          </a:bodyPr>
          <a:lstStyle/>
          <a:p>
            <a:r>
              <a:rPr lang="pt-PT" sz="2200" dirty="0"/>
              <a:t>Objetivos:</a:t>
            </a:r>
          </a:p>
          <a:p>
            <a:pPr lvl="1"/>
            <a:r>
              <a:rPr lang="pt-PT" sz="2200" dirty="0"/>
              <a:t>Quer garantir que a equipa é produtiva e que o sistema está bem organizado. </a:t>
            </a:r>
          </a:p>
          <a:p>
            <a:r>
              <a:rPr lang="pt-PT" sz="2200" dirty="0"/>
              <a:t>Responsabilidades:</a:t>
            </a:r>
          </a:p>
          <a:p>
            <a:pPr lvl="1"/>
            <a:r>
              <a:rPr lang="pt-PT" sz="2200" dirty="0"/>
              <a:t>Monitorizar o desempenho dos técnicos</a:t>
            </a:r>
          </a:p>
          <a:p>
            <a:pPr lvl="1"/>
            <a:r>
              <a:rPr lang="pt-PT" sz="2200" dirty="0"/>
              <a:t>Analisar a produtividade</a:t>
            </a:r>
          </a:p>
          <a:p>
            <a:pPr lvl="1"/>
            <a:r>
              <a:rPr lang="pt-PT" sz="2200" dirty="0"/>
              <a:t>Registar as novas máquinas no sistema</a:t>
            </a:r>
          </a:p>
          <a:p>
            <a:pPr lvl="1"/>
            <a:r>
              <a:rPr lang="pt-PT" sz="2200" dirty="0"/>
              <a:t>Gerir a organização interna</a:t>
            </a:r>
            <a:endParaRPr lang="en-US" sz="2200" dirty="0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BD050EBF-9C5A-0E56-C358-66100B23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z="1200" b="1" smtClean="0">
                <a:solidFill>
                  <a:schemeClr val="tx1"/>
                </a:solidFill>
              </a:rPr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94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• Repositório da equipa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5A777E3-6A57-7F54-0111-B5CF2F66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71" y="1474542"/>
            <a:ext cx="6973229" cy="322958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01E629F-5235-A0A7-78D4-C6CB73EB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409"/>
            <a:ext cx="2240809" cy="4619091"/>
          </a:xfrm>
          <a:prstGeom prst="rect">
            <a:avLst/>
          </a:prstGeom>
        </p:spPr>
      </p:pic>
      <p:sp>
        <p:nvSpPr>
          <p:cNvPr id="21" name="Marcador de Posição do Número do Diapositivo 20">
            <a:extLst>
              <a:ext uri="{FF2B5EF4-FFF2-40B4-BE49-F238E27FC236}">
                <a16:creationId xmlns:a16="http://schemas.microsoft.com/office/drawing/2014/main" id="{49D63822-0949-2A32-3DA8-7BF48161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b="1" smtClean="0">
                <a:solidFill>
                  <a:schemeClr val="bg1"/>
                </a:solidFill>
              </a:rPr>
              <a:pPr/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7054850C-D0E4-3C8C-246F-87AC3CCA39B7}"/>
              </a:ext>
            </a:extLst>
          </p:cNvPr>
          <p:cNvSpPr/>
          <p:nvPr/>
        </p:nvSpPr>
        <p:spPr>
          <a:xfrm>
            <a:off x="0" y="4385500"/>
            <a:ext cx="9144000" cy="763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898BAE-CFE1-3E6B-1EF6-7B78E965B5E2}"/>
              </a:ext>
            </a:extLst>
          </p:cNvPr>
          <p:cNvSpPr txBox="1">
            <a:spLocks/>
          </p:cNvSpPr>
          <p:nvPr/>
        </p:nvSpPr>
        <p:spPr>
          <a:xfrm>
            <a:off x="911834" y="256780"/>
            <a:ext cx="8093365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r">
              <a:buFont typeface="Arial" panose="020B0604020202020204" pitchFamily="34" charset="0"/>
              <a:buChar char="•"/>
            </a:pPr>
            <a:r>
              <a:rPr lang="pt-PT" dirty="0"/>
              <a:t>Fim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E53810-E9F3-E4E3-FF9B-DD34D19627CF}"/>
              </a:ext>
            </a:extLst>
          </p:cNvPr>
          <p:cNvSpPr txBox="1">
            <a:spLocks/>
          </p:cNvSpPr>
          <p:nvPr/>
        </p:nvSpPr>
        <p:spPr>
          <a:xfrm>
            <a:off x="2341757" y="2438399"/>
            <a:ext cx="6742770" cy="22500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dirty="0">
                <a:solidFill>
                  <a:schemeClr val="bg1"/>
                </a:solidFill>
              </a:rPr>
              <a:t>Margarida Cardoso - 125799 - Team Manager</a:t>
            </a:r>
          </a:p>
          <a:p>
            <a:r>
              <a:rPr lang="pt-PT" sz="2400" dirty="0">
                <a:solidFill>
                  <a:schemeClr val="bg1"/>
                </a:solidFill>
              </a:rPr>
              <a:t>Tiago Costa - 125943 - </a:t>
            </a:r>
            <a:r>
              <a:rPr lang="pt-PT" sz="2400" dirty="0" err="1">
                <a:solidFill>
                  <a:schemeClr val="bg1"/>
                </a:solidFill>
              </a:rPr>
              <a:t>Product</a:t>
            </a:r>
            <a:r>
              <a:rPr lang="pt-PT" sz="2400" dirty="0">
                <a:solidFill>
                  <a:schemeClr val="bg1"/>
                </a:solidFill>
              </a:rPr>
              <a:t> </a:t>
            </a:r>
            <a:r>
              <a:rPr lang="pt-PT" sz="2400" dirty="0" err="1">
                <a:solidFill>
                  <a:schemeClr val="bg1"/>
                </a:solidFill>
              </a:rPr>
              <a:t>Owner</a:t>
            </a:r>
            <a:endParaRPr lang="pt-PT" sz="2400" dirty="0">
              <a:solidFill>
                <a:schemeClr val="bg1"/>
              </a:solidFill>
            </a:endParaRPr>
          </a:p>
          <a:p>
            <a:r>
              <a:rPr lang="pt-PT" sz="2400" dirty="0">
                <a:solidFill>
                  <a:schemeClr val="bg1"/>
                </a:solidFill>
              </a:rPr>
              <a:t>Pedro Rocha - 125296 - </a:t>
            </a:r>
            <a:r>
              <a:rPr lang="pt-PT" sz="2400" dirty="0" err="1">
                <a:solidFill>
                  <a:schemeClr val="bg1"/>
                </a:solidFill>
              </a:rPr>
              <a:t>Architect</a:t>
            </a:r>
            <a:endParaRPr lang="pt-PT" sz="2400" dirty="0">
              <a:solidFill>
                <a:schemeClr val="bg1"/>
              </a:solidFill>
            </a:endParaRPr>
          </a:p>
          <a:p>
            <a:r>
              <a:rPr lang="pt-PT" sz="2400" dirty="0">
                <a:solidFill>
                  <a:schemeClr val="bg1"/>
                </a:solidFill>
              </a:rPr>
              <a:t>Daniel Martins - 115868 - </a:t>
            </a:r>
            <a:r>
              <a:rPr lang="pt-PT" sz="2400" dirty="0" err="1">
                <a:solidFill>
                  <a:schemeClr val="bg1"/>
                </a:solidFill>
              </a:rPr>
              <a:t>DevOps</a:t>
            </a:r>
            <a:r>
              <a:rPr lang="pt-PT" sz="2400" dirty="0">
                <a:solidFill>
                  <a:schemeClr val="bg1"/>
                </a:solidFill>
              </a:rPr>
              <a:t> Master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9E41A5B-1AB5-BF38-0A93-34429644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b="1" smtClean="0">
                <a:solidFill>
                  <a:schemeClr val="tx1"/>
                </a:solidFill>
              </a:rPr>
              <a:pPr/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Imagem 6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AD9773EE-DB99-F47A-CF5E-D84350EBD3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3" y="4431216"/>
            <a:ext cx="3717073" cy="672091"/>
          </a:xfrm>
          <a:prstGeom prst="rect">
            <a:avLst/>
          </a:prstGeom>
        </p:spPr>
      </p:pic>
      <p:sp>
        <p:nvSpPr>
          <p:cNvPr id="9" name="Marcador de Posição do Número do Diapositivo 6">
            <a:extLst>
              <a:ext uri="{FF2B5EF4-FFF2-40B4-BE49-F238E27FC236}">
                <a16:creationId xmlns:a16="http://schemas.microsoft.com/office/drawing/2014/main" id="{D44E9E7D-058E-2A41-B357-55A26DA4FFA3}"/>
              </a:ext>
            </a:extLst>
          </p:cNvPr>
          <p:cNvSpPr txBox="1">
            <a:spLocks/>
          </p:cNvSpPr>
          <p:nvPr/>
        </p:nvSpPr>
        <p:spPr>
          <a:xfrm>
            <a:off x="4118516" y="4749798"/>
            <a:ext cx="37951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Introdução</a:t>
            </a:r>
            <a:r>
              <a:rPr lang="en-US" sz="1400" b="1" dirty="0">
                <a:solidFill>
                  <a:schemeClr val="tx1"/>
                </a:solidFill>
              </a:rPr>
              <a:t> a </a:t>
            </a:r>
            <a:r>
              <a:rPr lang="en-US" sz="1400" b="1" dirty="0" err="1">
                <a:solidFill>
                  <a:schemeClr val="tx1"/>
                </a:solidFill>
              </a:rPr>
              <a:t>Engenharia</a:t>
            </a:r>
            <a:r>
              <a:rPr lang="en-US" sz="1400" b="1" dirty="0">
                <a:solidFill>
                  <a:schemeClr val="tx1"/>
                </a:solidFill>
              </a:rPr>
              <a:t> de Software	 2025/2026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Apresentação no Ecrã (16:9)</PresentationFormat>
  <Paragraphs>75</Paragraphs>
  <Slides>10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(Nome) Iteração 1</vt:lpstr>
      <vt:lpstr>Índice    </vt:lpstr>
      <vt:lpstr>Introdução:</vt:lpstr>
      <vt:lpstr>Entidades</vt:lpstr>
      <vt:lpstr>Maintenance Technician</vt:lpstr>
      <vt:lpstr>Maintenance Director</vt:lpstr>
      <vt:lpstr>Manager</vt:lpstr>
      <vt:lpstr>Administrator</vt:lpstr>
      <vt:lpstr>• Repositório da equipa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2026-03-03T22:49:27Z</dcterms:modified>
</cp:coreProperties>
</file>